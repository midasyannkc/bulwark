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Threats</c:v>
                </c:pt>
              </c:strCache>
            </c:strRef>
          </c:tx>
          <c:spPr>
            <a:solidFill>
              <a:srgbClr val="0F3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 designed</c:v>
                  </c:pt>
                  <c:pt idx="1">
                    <c:v>No TLS, no encryption at 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Grade</c:v>
                </c:pt>
              </c:strCache>
            </c:strRef>
          </c:tx>
          <c:spPr>
            <a:solidFill>
              <a:srgbClr val="3B9C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9C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B3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Strong play</c:v>
                  </c:pt>
                  <c:pt idx="1">
                    <c:v>Weak play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Controls</c:v>
                </c:pt>
              </c:strCache>
            </c:strRef>
          </c:tx>
          <c:spPr>
            <a:solidFill>
              <a:srgbClr val="0F3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Exception</c:v>
                  </c:pt>
                  <c:pt idx="1">
                    <c:v>Pass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Bulwark is a portfolio project built against a Senior Security Engineer posting at a virtual-care company. It fills the areas a cloud and IAM project does not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Breach notification deadlines are computed from the discovery date as an engineering aid. Counsel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returns 404 rather than 403 for another patient's record so that existence is not revealed.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Bulwark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1945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Threat models, incident response, audit evidence and FHIR security for a virtual-care platform that holds PHI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Python  |  FHIR  |  HIPAA  |  SOC 2  |  NIST 800-53  |  Christian Kouadio Kouassi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citation resolves, every fix was first a failing test</a:t>
            </a:r>
            <a:endParaRPr lang="en-US" sz="2600" dirty="0"/>
          </a:p>
        </p:txBody>
      </p:sp>
      <p:sp>
        <p:nvSpPr>
          <p:cNvPr id="3" name="StatCard1"/>
          <p:cNvSpPr/>
          <p:nvPr/>
        </p:nvSpPr>
        <p:spPr>
          <a:xfrm>
            <a:off x="54864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Value1"/>
          <p:cNvSpPr txBox="1"/>
          <p:nvPr/>
        </p:nvSpPr>
        <p:spPr>
          <a:xfrm>
            <a:off x="7772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5" name="StatLabel1"/>
          <p:cNvSpPr txBox="1"/>
          <p:nvPr/>
        </p:nvSpPr>
        <p:spPr>
          <a:xfrm>
            <a:off x="777240" y="2029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unverified ATT&amp;CK or NIST citations out of 12 used, checked against the real catalogs</a:t>
            </a:r>
            <a:endParaRPr lang="en-US" sz="1300" dirty="0"/>
          </a:p>
        </p:txBody>
      </p:sp>
      <p:sp>
        <p:nvSpPr>
          <p:cNvPr id="6" name="StatCard2"/>
          <p:cNvSpPr/>
          <p:nvPr/>
        </p:nvSpPr>
        <p:spPr>
          <a:xfrm>
            <a:off x="466344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Value2"/>
          <p:cNvSpPr txBox="1"/>
          <p:nvPr/>
        </p:nvSpPr>
        <p:spPr>
          <a:xfrm>
            <a:off x="48920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vs 6</a:t>
            </a:r>
            <a:endParaRPr lang="en-US" sz="3600" dirty="0"/>
          </a:p>
        </p:txBody>
      </p:sp>
      <p:sp>
        <p:nvSpPr>
          <p:cNvPr id="8" name="StatLabel2"/>
          <p:cNvSpPr txBox="1"/>
          <p:nvPr/>
        </p:nvSpPr>
        <p:spPr>
          <a:xfrm>
            <a:off x="4892040" y="2029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tabletop grade for a strong and a weak response to the same ransomware scenario</a:t>
            </a:r>
            <a:endParaRPr lang="en-US" sz="1300" dirty="0"/>
          </a:p>
        </p:txBody>
      </p:sp>
      <p:sp>
        <p:nvSpPr>
          <p:cNvPr id="9" name="StatCard3"/>
          <p:cNvSpPr/>
          <p:nvPr/>
        </p:nvSpPr>
        <p:spPr>
          <a:xfrm>
            <a:off x="54864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Value3"/>
          <p:cNvSpPr txBox="1"/>
          <p:nvPr/>
        </p:nvSpPr>
        <p:spPr>
          <a:xfrm>
            <a:off x="7772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StatLabel3"/>
          <p:cNvSpPr txBox="1"/>
          <p:nvPr/>
        </p:nvSpPr>
        <p:spPr>
          <a:xfrm>
            <a:off x="777240" y="36301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controls collected into a hashed evidence package; 11 exceptions found in the seeded snapshot</a:t>
            </a:r>
            <a:endParaRPr lang="en-US" sz="1300" dirty="0"/>
          </a:p>
        </p:txBody>
      </p:sp>
      <p:sp>
        <p:nvSpPr>
          <p:cNvPr id="12" name="StatCard4"/>
          <p:cNvSpPr/>
          <p:nvPr/>
        </p:nvSpPr>
        <p:spPr>
          <a:xfrm>
            <a:off x="466344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Value4"/>
          <p:cNvSpPr txBox="1"/>
          <p:nvPr/>
        </p:nvSpPr>
        <p:spPr>
          <a:xfrm>
            <a:off x="48920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StatLabel4"/>
          <p:cNvSpPr txBox="1"/>
          <p:nvPr/>
        </p:nvSpPr>
        <p:spPr>
          <a:xfrm>
            <a:off x="4892040" y="36301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defects found while building, each a failing test then a separate fix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 cover what a cloud-and-IAM project leaves open</a:t>
            </a:r>
            <a:endParaRPr lang="en-US" sz="2600" dirty="0"/>
          </a:p>
        </p:txBody>
      </p:sp>
      <p:sp>
        <p:nvSpPr>
          <p:cNvPr id="3" name="Mod1"/>
          <p:cNvSpPr/>
          <p:nvPr/>
        </p:nvSpPr>
        <p:spPr>
          <a:xfrm>
            <a:off x="548640" y="137160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Text1"/>
          <p:cNvSpPr txBox="1"/>
          <p:nvPr/>
        </p:nvSpPr>
        <p:spPr>
          <a:xfrm>
            <a:off x="640080" y="14447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Threat modeling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data-flow model to STRIDE threats</a:t>
            </a:r>
            <a:endParaRPr lang="en-US" sz="1600" dirty="0"/>
          </a:p>
        </p:txBody>
      </p:sp>
      <p:sp>
        <p:nvSpPr>
          <p:cNvPr id="5" name="Mod2"/>
          <p:cNvSpPr/>
          <p:nvPr/>
        </p:nvSpPr>
        <p:spPr>
          <a:xfrm>
            <a:off x="3291840" y="137160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odText2"/>
          <p:cNvSpPr txBox="1"/>
          <p:nvPr/>
        </p:nvSpPr>
        <p:spPr>
          <a:xfrm>
            <a:off x="3383280" y="14447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Incident response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runbooks, tabletop, breach clock</a:t>
            </a:r>
            <a:endParaRPr lang="en-US" sz="1600" dirty="0"/>
          </a:p>
        </p:txBody>
      </p:sp>
      <p:sp>
        <p:nvSpPr>
          <p:cNvPr id="7" name="Mod3"/>
          <p:cNvSpPr/>
          <p:nvPr/>
        </p:nvSpPr>
        <p:spPr>
          <a:xfrm>
            <a:off x="6035040" y="137160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dText3"/>
          <p:cNvSpPr txBox="1"/>
          <p:nvPr/>
        </p:nvSpPr>
        <p:spPr>
          <a:xfrm>
            <a:off x="6126480" y="14447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 evidence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SOC 2, HIPAA, HITRUST</a:t>
            </a:r>
            <a:endParaRPr lang="en-US" sz="1600" dirty="0"/>
          </a:p>
        </p:txBody>
      </p:sp>
      <p:sp>
        <p:nvSpPr>
          <p:cNvPr id="9" name="Mod4"/>
          <p:cNvSpPr/>
          <p:nvPr/>
        </p:nvSpPr>
        <p:spPr>
          <a:xfrm>
            <a:off x="54864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Text4"/>
          <p:cNvSpPr txBox="1"/>
          <p:nvPr/>
        </p:nvSpPr>
        <p:spPr>
          <a:xfrm>
            <a:off x="640080" y="299923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FHIR security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validate, de-identify, test the API</a:t>
            </a:r>
            <a:endParaRPr lang="en-US" sz="1600" dirty="0"/>
          </a:p>
        </p:txBody>
      </p:sp>
      <p:sp>
        <p:nvSpPr>
          <p:cNvPr id="11" name="Mod5"/>
          <p:cNvSpPr/>
          <p:nvPr/>
        </p:nvSpPr>
        <p:spPr>
          <a:xfrm>
            <a:off x="329184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dText5"/>
          <p:cNvSpPr txBox="1"/>
          <p:nvPr/>
        </p:nvSpPr>
        <p:spPr>
          <a:xfrm>
            <a:off x="3383280" y="299923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Integrations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BAA, scopes, fields, webhooks</a:t>
            </a:r>
            <a:endParaRPr lang="en-US" sz="1600" dirty="0"/>
          </a:p>
        </p:txBody>
      </p:sp>
      <p:sp>
        <p:nvSpPr>
          <p:cNvPr id="13" name="Mod6"/>
          <p:cNvSpPr/>
          <p:nvPr/>
        </p:nvSpPr>
        <p:spPr>
          <a:xfrm>
            <a:off x="603504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ModText6"/>
          <p:cNvSpPr txBox="1"/>
          <p:nvPr/>
        </p:nvSpPr>
        <p:spPr>
          <a:xfrm>
            <a:off x="6126480" y="299923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Reference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NIST, ATT&amp;CK, FHIR R4 (real)</a:t>
            </a:r>
            <a:endParaRPr lang="en-US" sz="1600" dirty="0"/>
          </a:p>
        </p:txBody>
      </p:sp>
      <p:sp>
        <p:nvSpPr>
          <p:cNvPr id="15" name="RuleNote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Companion project Warden covers AWS IAM and Terraform, vulnerability prioritization, detection rules and the HIPAA safeguard map.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model: a clean design, and what removing two controls does</a:t>
            </a:r>
            <a:endParaRPr lang="en-US" sz="2600" dirty="0"/>
          </a:p>
        </p:txBody>
      </p:sp>
      <p:graphicFrame>
        <p:nvGraphicFramePr>
          <p:cNvPr id="3" name="ThreatChart" descr=""/>
          <p:cNvGraphicFramePr/>
          <p:nvPr/>
        </p:nvGraphicFramePr>
        <p:xfrm>
          <a:off x="548640" y="118872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hreatCard"/>
          <p:cNvSpPr/>
          <p:nvPr/>
        </p:nvSpPr>
        <p:spPr>
          <a:xfrm>
            <a:off x="5760720" y="128016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hreatNotes"/>
          <p:cNvSpPr txBox="1"/>
          <p:nvPr/>
        </p:nvSpPr>
        <p:spPr>
          <a:xfrm>
            <a:off x="5897880" y="141732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11 elements, 10 flows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Threats are mapped to real ATT&amp;CK techniques and NIST controls. Mutation tests remove TLS from every flow and encryption from every store and require a finding each time.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 typo that hid a flow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A lowercase data class once removed a PHI flow from every rule. The model is validated first now.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response: the scoring tells a strong team from a weak one</a:t>
            </a:r>
            <a:endParaRPr lang="en-US" sz="2600" dirty="0"/>
          </a:p>
        </p:txBody>
      </p:sp>
      <p:graphicFrame>
        <p:nvGraphicFramePr>
          <p:cNvPr id="3" name="IrChart" descr=""/>
          <p:cNvGraphicFramePr/>
          <p:nvPr/>
        </p:nvGraphicFramePr>
        <p:xfrm>
          <a:off x="548640" y="118872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rCard"/>
          <p:cNvSpPr/>
          <p:nvPr/>
        </p:nvSpPr>
        <p:spPr>
          <a:xfrm>
            <a:off x="5394960" y="128016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rNotes"/>
          <p:cNvSpPr txBox="1"/>
          <p:nvPr/>
        </p:nvSpPr>
        <p:spPr>
          <a:xfrm>
            <a:off x="553212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3 runbooks, 0 lint findings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Storage exposure, account compromise and ransomware, each across seven phases with owners and evidence.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The weak play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Wiped hosts before preserving evidence, waited for forensics to start the breach clock, and paid on its own authority. The simulator found a gap in my own runbook too: no explicit evidence-preservation step.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evidence: findings an auditor would find first</a:t>
            </a:r>
            <a:endParaRPr lang="en-US" sz="2600" dirty="0"/>
          </a:p>
        </p:txBody>
      </p:sp>
      <p:graphicFrame>
        <p:nvGraphicFramePr>
          <p:cNvPr id="3" name="EvidenceChart" descr=""/>
          <p:cNvGraphicFramePr/>
          <p:nvPr/>
        </p:nvGraphicFramePr>
        <p:xfrm>
          <a:off x="548640" y="118872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videnceCard"/>
          <p:cNvSpPr/>
          <p:nvPr/>
        </p:nvSpPr>
        <p:spPr>
          <a:xfrm>
            <a:off x="5212080" y="128016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videnceNotes"/>
          <p:cNvSpPr txBox="1"/>
          <p:nvPr/>
        </p:nvSpPr>
        <p:spPr>
          <a:xfrm>
            <a:off x="5349240" y="14173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Hashed, mapped, expiring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15 controls map to SOC 2, HIPAA and HITRUST categories. Each artifact carries a SHA-256, and stale evidence is flagged by control frequency.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Honest coverage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19 of 177 base controls in the real NIST Moderate baseline (10.7 percent). An empty population is untestable, never a pass.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FHIR security: probes against the in-process API</a:t>
            </a:r>
            <a:endParaRPr lang="en-US" sz="2600" dirty="0"/>
          </a:p>
        </p:txBody>
      </p:sp>
      <p:graphicFrame>
        <p:nvGraphicFramePr>
          <p:cNvPr id="8" name="Prob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with patient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without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another patient's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own record (must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into another compartment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hirCard"/>
          <p:cNvSpPr/>
          <p:nvPr/>
        </p:nvSpPr>
        <p:spPr>
          <a:xfrm>
            <a:off x="5943600" y="128016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hirNotes"/>
          <p:cNvSpPr txBox="1"/>
          <p:nvPr/>
        </p:nvSpPr>
        <p:spPr>
          <a:xfrm>
            <a:off x="6080760" y="14173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Real spec, real checks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Resources validate against 15 real R4 definitions. De-identification leaves 0 identifiers; PHI in audit log: no.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Partners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Findings: lab vendor 0, EHR partner 8, marketing vendor 6 (no BAA).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defects, each reproduced then fixed</a:t>
            </a:r>
            <a:endParaRPr lang="en-US" sz="2600" dirty="0"/>
          </a:p>
        </p:txBody>
      </p:sp>
      <p:sp>
        <p:nvSpPr>
          <p:cNvPr id="3" name="Group1"/>
          <p:cNvSpPr/>
          <p:nvPr/>
        </p:nvSpPr>
        <p:spPr>
          <a:xfrm>
            <a:off x="54864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roupTitle1"/>
          <p:cNvSpPr txBox="1"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Seeded in the API (4)</a:t>
            </a:r>
            <a:endParaRPr lang="en-US" sz="1500" dirty="0"/>
          </a:p>
        </p:txBody>
      </p:sp>
      <p:sp>
        <p:nvSpPr>
          <p:cNvPr id="5" name="GroupBody1"/>
          <p:cNvSpPr txBox="1"/>
          <p:nvPr/>
        </p:nvSpPr>
        <p:spPr>
          <a:xfrm>
            <a:off x="731520" y="15819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Cross-patient reads (BOLA)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Read-only token could write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Bulk export with no login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PHI in audit log and errors</a:t>
            </a:r>
            <a:endParaRPr lang="en-US" sz="1150" dirty="0"/>
          </a:p>
        </p:txBody>
      </p:sp>
      <p:sp>
        <p:nvSpPr>
          <p:cNvPr id="6" name="Group2"/>
          <p:cNvSpPr/>
          <p:nvPr/>
        </p:nvSpPr>
        <p:spPr>
          <a:xfrm>
            <a:off x="466344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GroupTitle2"/>
          <p:cNvSpPr txBox="1"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in de-identification (2)</a:t>
            </a:r>
            <a:endParaRPr lang="en-US" sz="1500" dirty="0"/>
          </a:p>
        </p:txBody>
      </p:sp>
      <p:sp>
        <p:nvSpPr>
          <p:cNvPr id="8" name="GroupBody2"/>
          <p:cNvSpPr txBox="1"/>
          <p:nvPr/>
        </p:nvSpPr>
        <p:spPr>
          <a:xfrm>
            <a:off x="4846320" y="15819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Names in free text survived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Timestamps kept the full date</a:t>
            </a:r>
            <a:endParaRPr lang="en-US" sz="1150" dirty="0"/>
          </a:p>
        </p:txBody>
      </p:sp>
      <p:sp>
        <p:nvSpPr>
          <p:cNvPr id="9" name="Group3"/>
          <p:cNvSpPr/>
          <p:nvPr/>
        </p:nvSpPr>
        <p:spPr>
          <a:xfrm>
            <a:off x="54864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GroupTitle3"/>
          <p:cNvSpPr txBox="1"/>
          <p:nvPr/>
        </p:nvSpPr>
        <p:spPr>
          <a:xfrm>
            <a:off x="7315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in the validator (1)</a:t>
            </a:r>
            <a:endParaRPr lang="en-US" sz="1500" dirty="0"/>
          </a:p>
        </p:txBody>
      </p:sp>
      <p:sp>
        <p:nvSpPr>
          <p:cNvPr id="11" name="GroupBody3"/>
          <p:cNvSpPr txBox="1"/>
          <p:nvPr/>
        </p:nvSpPr>
        <p:spPr>
          <a:xfrm>
            <a:off x="731520" y="331927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valueBanana passed as a choice type</a:t>
            </a:r>
            <a:endParaRPr lang="en-US" sz="1150" dirty="0"/>
          </a:p>
        </p:txBody>
      </p:sp>
      <p:sp>
        <p:nvSpPr>
          <p:cNvPr id="12" name="Group4"/>
          <p:cNvSpPr/>
          <p:nvPr/>
        </p:nvSpPr>
        <p:spPr>
          <a:xfrm>
            <a:off x="466344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GroupTitle4"/>
          <p:cNvSpPr txBox="1"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in my own tooling (3)</a:t>
            </a:r>
            <a:endParaRPr lang="en-US" sz="1500" dirty="0"/>
          </a:p>
        </p:txBody>
      </p:sp>
      <p:sp>
        <p:nvSpPr>
          <p:cNvPr id="14" name="GroupBody4"/>
          <p:cNvSpPr txBox="1"/>
          <p:nvPr/>
        </p:nvSpPr>
        <p:spPr>
          <a:xfrm>
            <a:off x="4846320" y="331927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Data class typo hid a PHI 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Runbook without preservation step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Empty population reported pass</a:t>
            </a:r>
            <a:endParaRPr lang="en-US" sz="1150" dirty="0"/>
          </a:p>
        </p:txBody>
      </p:sp>
      <p:sp>
        <p:nvSpPr>
          <p:cNvPr id="15" name="IncNote"/>
          <p:cNvSpPr txBox="1"/>
          <p:nvPr/>
        </p:nvSpPr>
        <p:spPr>
          <a:xfrm>
            <a:off x="548640" y="47274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 script re-runs every reproduce and fix commit in a clean checkout to prove 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Title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shows, and what it does not</a:t>
            </a:r>
            <a:endParaRPr lang="en-US" sz="3200" dirty="0"/>
          </a:p>
        </p:txBody>
      </p:sp>
      <p:sp>
        <p:nvSpPr>
          <p:cNvPr id="3" name="ShowsText"/>
          <p:cNvSpPr txBox="1"/>
          <p:nvPr/>
        </p:nvSpPr>
        <p:spPr>
          <a:xfrm>
            <a:off x="640080" y="13716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Shows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Threat modeling that cites real catalogs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Runbooks, a tabletop and a breach clock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Evidence an auditor can verify</a:t>
            </a:r>
            <a:endParaRPr lang="en-US" sz="1500" dirty="0"/>
          </a:p>
        </p:txBody>
      </p:sp>
      <p:sp>
        <p:nvSpPr>
          <p:cNvPr id="4" name="NotShownText"/>
          <p:cNvSpPr txBox="1"/>
          <p:nvPr/>
        </p:nvSpPr>
        <p:spPr>
          <a:xfrm>
            <a:off x="4754880" y="13716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Does not show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Five years of healthcare security work or a certification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live AWS account, SIEM or EHR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real team under incident pressure</a:t>
            </a:r>
            <a:endParaRPr lang="en-US" sz="1500" dirty="0"/>
          </a:p>
        </p:txBody>
      </p:sp>
      <p:sp>
        <p:nvSpPr>
          <p:cNvPr id="5" name="Footer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87 tests  |  10 incidents  |  sole-author git history  |  nothing pushed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lwark">
  <a:themeElements>
    <a:clrScheme name="Bulwark">
      <a:dk1>
        <a:srgbClr val="16202E"/>
      </a:dk1>
      <a:lt1>
        <a:srgbClr val="FFFFFF"/>
      </a:lt1>
      <a:dk2>
        <a:srgbClr val="0F3B3A"/>
      </a:dk2>
      <a:lt2>
        <a:srgbClr val="EEF5F4"/>
      </a:lt2>
      <a:accent1>
        <a:srgbClr val="0F3B3A"/>
      </a:accent1>
      <a:accent2>
        <a:srgbClr val="D9822B"/>
      </a:accent2>
      <a:accent3>
        <a:srgbClr val="3B9C8E"/>
      </a:accent3>
      <a:accent4>
        <a:srgbClr val="7F8CA3"/>
      </a:accent4>
      <a:accent5>
        <a:srgbClr val="F0B561"/>
      </a:accent5>
      <a:accent6>
        <a:srgbClr val="C24B3F"/>
      </a:accent6>
      <a:hlink>
        <a:srgbClr val="0F3B3A"/>
      </a:hlink>
      <a:folHlink>
        <a:srgbClr val="3B9C8E"/>
      </a:folHlink>
    </a:clrScheme>
    <a:fontScheme name="Bulw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Bulwark Executive Summary</dc:title>
  <dc:subject>PptxGenJS Presentation</dc:subject>
  <dc:creator>Christian Kouadio Kouassi</dc:creator>
  <cp:lastModifiedBy>Christian Kouadio Kouassi</cp:lastModifiedBy>
  <cp:revision>1</cp:revision>
  <dcterms:created xsi:type="dcterms:W3CDTF">2026-10-30T02:21:08Z</dcterms:created>
  <dcterms:modified xsi:type="dcterms:W3CDTF">2026-10-30T02:21:08Z</dcterms:modified>
</cp:coreProperties>
</file>